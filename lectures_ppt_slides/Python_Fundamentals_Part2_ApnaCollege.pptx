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46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413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9280" cy="6858000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3" name="Shape 1"/>
          <p:cNvSpPr/>
          <p:nvPr/>
        </p:nvSpPr>
        <p:spPr>
          <a:xfrm>
            <a:off x="-1005840" y="-914400"/>
            <a:ext cx="2926080" cy="2926080"/>
          </a:xfrm>
          <a:prstGeom prst="ellipse">
            <a:avLst/>
          </a:prstGeom>
          <a:solidFill>
            <a:srgbClr val="FF7A1A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114800" y="5212080"/>
            <a:ext cx="2377440" cy="237744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274320"/>
            <a:ext cx="1280160" cy="1280160"/>
          </a:xfrm>
          <a:prstGeom prst="ellipse">
            <a:avLst/>
          </a:prstGeom>
          <a:solidFill>
            <a:srgbClr val="FF7A1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241280" y="5303520"/>
            <a:ext cx="1828800" cy="1828800"/>
          </a:xfrm>
          <a:prstGeom prst="ellipse">
            <a:avLst/>
          </a:prstGeom>
          <a:solidFill>
            <a:srgbClr val="FF7A1A">
              <a:alpha val="18000"/>
            </a:srgbClr>
          </a:solidFill>
          <a:ln/>
        </p:spPr>
      </p:sp>
      <p:pic>
        <p:nvPicPr>
          <p:cNvPr id="7" name="Image 0" descr="/home/claude/ppt/icons/python_white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475488" y="50292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70432" y="548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smtClean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" y="1554480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5200" dirty="0"/>
          </a:p>
        </p:txBody>
      </p:sp>
      <p:sp>
        <p:nvSpPr>
          <p:cNvPr id="10" name="Text 7"/>
          <p:cNvSpPr/>
          <p:nvPr/>
        </p:nvSpPr>
        <p:spPr>
          <a:xfrm>
            <a:off x="475488" y="221284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2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Fundamentals</a:t>
            </a:r>
            <a:endParaRPr lang="en-US" sz="5200" dirty="0"/>
          </a:p>
        </p:txBody>
      </p:sp>
      <p:sp>
        <p:nvSpPr>
          <p:cNvPr id="11" name="Text 8"/>
          <p:cNvSpPr/>
          <p:nvPr/>
        </p:nvSpPr>
        <p:spPr>
          <a:xfrm>
            <a:off x="475488" y="294436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AAB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2800" dirty="0"/>
          </a:p>
        </p:txBody>
      </p:sp>
      <p:sp>
        <p:nvSpPr>
          <p:cNvPr id="12" name="Shape 9"/>
          <p:cNvSpPr/>
          <p:nvPr/>
        </p:nvSpPr>
        <p:spPr>
          <a:xfrm>
            <a:off x="475488" y="3566160"/>
            <a:ext cx="128016" cy="640080"/>
          </a:xfrm>
          <a:prstGeom prst="rect">
            <a:avLst/>
          </a:prstGeom>
          <a:solidFill>
            <a:srgbClr val="FF7A1A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5661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D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 ·  Loops  ·  Functions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" y="6400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89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</a:t>
            </a:r>
            <a:r>
              <a:rPr lang="en-US" sz="1200" dirty="0" err="1" smtClean="0">
                <a:solidFill>
                  <a:srgbClr val="689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Saif</a:t>
            </a:r>
            <a:r>
              <a:rPr lang="en-US" sz="1200" dirty="0" smtClean="0">
                <a:solidFill>
                  <a:srgbClr val="689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 err="1" smtClean="0">
                <a:solidFill>
                  <a:srgbClr val="6890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Ullah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0" y="219456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6" name="Image 1" descr="/home/claude/ppt/icons/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359152"/>
            <a:ext cx="548640" cy="5486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400800" y="3035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Statements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8321040" y="219456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9" name="Image 2" descr="/home/claude/ppt/icons/syn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0" y="2359152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21040" y="3035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Flow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10241280" y="2194560"/>
            <a:ext cx="1645920" cy="1554480"/>
          </a:xfrm>
          <a:prstGeom prst="roundRect">
            <a:avLst>
              <a:gd name="adj" fmla="val 5882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22" name="Image 3" descr="/home/claude/ppt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0" y="2359152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241280" y="303580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&amp;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943600" y="6400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4A6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Sigma 4.0 Series  ·  Python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7A1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FF7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6420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64208" y="37307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 ·  elif  ·  else  ·  ternary  ·  match-case</a:t>
            </a:r>
            <a:endParaRPr lang="en-US" sz="1600" dirty="0"/>
          </a:p>
        </p:txBody>
      </p:sp>
      <p:pic>
        <p:nvPicPr>
          <p:cNvPr id="9" name="Image 0" descr="/home/claude/ppt/icons/branch_white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241280" y="2331720"/>
            <a:ext cx="1463040" cy="1463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 ·  CONCEPT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else Statements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decide what code to run based 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whether an expression evaluates to True or False.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runs when condition is True; else runs otherwise.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indented block is executed together.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 runs if True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block runs if False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3822192"/>
            <a:ext cx="3977640" cy="2688336"/>
          </a:xfrm>
          <a:prstGeom prst="roundRect">
            <a:avLst>
              <a:gd name="adj" fmla="val 2721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41064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39227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206240"/>
            <a:ext cx="373989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elif &amp; else cannot be used without a preceding if statement.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192378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19237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19237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voting eligibility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466698"/>
            <a:ext cx="7150608" cy="1553566"/>
          </a:xfrm>
          <a:prstGeom prst="roundRect">
            <a:avLst>
              <a:gd name="adj" fmla="val 412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466698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580998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542593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542593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542593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46669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759306"/>
            <a:ext cx="680313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age: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can vote"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can drive"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can't vote"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"you can't drive"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276295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276295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276295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 System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550615"/>
            <a:ext cx="7150608" cy="1932127"/>
          </a:xfrm>
          <a:prstGeom prst="roundRect">
            <a:avLst>
              <a:gd name="adj" fmla="val 331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550615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664915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626510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626510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626510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55061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3843223"/>
            <a:ext cx="6803136" cy="157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color: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 ==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"red"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"Stop"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 ==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"yellow"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"Look"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color ==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"green"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"Go"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 color"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 ·  CONCEPT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Operators &amp; Nested if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and / or / not to combine multiple conditions.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and: both must be True  |  or: at least one True  |  not: inverts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Nesting means placing an if block inside another if block.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it when a decision depends on a prior decision.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987552"/>
          </a:xfrm>
          <a:prstGeom prst="roundRect">
            <a:avLst>
              <a:gd name="adj" fmla="val 6481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cond1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cond2: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both </a:t>
            </a:r>
            <a:r>
              <a:rPr lang="en-US" sz="1050" i="1" dirty="0" smtClean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cond1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cond2: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at least </a:t>
            </a:r>
            <a:r>
              <a:rPr lang="en-US" sz="1050" i="1" dirty="0" smtClean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3832583"/>
            <a:ext cx="3977640" cy="2688336"/>
          </a:xfrm>
          <a:prstGeom prst="roundRect">
            <a:avLst>
              <a:gd name="adj" fmla="val 2721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941064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3922776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206240"/>
            <a:ext cx="3739896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Avoid deep nesting (more than 2 levels). Prefer elif chains for cleaner code.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192378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19237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19237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 category with and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466698"/>
            <a:ext cx="7150608" cy="1553566"/>
          </a:xfrm>
          <a:prstGeom prst="roundRect">
            <a:avLst>
              <a:gd name="adj" fmla="val 412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466698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580998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542593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542593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542593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46669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759306"/>
            <a:ext cx="680313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age: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&lt;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"child"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&lt;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"teenager"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"adult"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276295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276295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276295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System (nested if)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550615"/>
            <a:ext cx="7150608" cy="1932127"/>
          </a:xfrm>
          <a:prstGeom prst="roundRect">
            <a:avLst>
              <a:gd name="adj" fmla="val 331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550615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664915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626510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626510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626510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55061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3843223"/>
            <a:ext cx="6803136" cy="157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username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"username: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password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"password: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username == </a:t>
            </a:r>
            <a:r>
              <a:rPr lang="en-US" sz="1050" dirty="0" smtClean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</a:t>
            </a:r>
            <a:r>
              <a:rPr lang="en-US" sz="1050" dirty="0" err="1" smtClean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saif</a:t>
            </a:r>
            <a:r>
              <a:rPr lang="en-US" sz="1050" dirty="0" smtClean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</a:t>
            </a:r>
            <a:r>
              <a:rPr lang="en-US" sz="1050" dirty="0" smtClean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password ==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"pass"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"login successful!"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username !=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"admin"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nested if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 username, try again."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"wrong password, try again."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 smtClean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College·  </a:t>
            </a:r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 ·  CONCEPT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 Statements &amp; Match-Case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 is a one-liner if-else; returns one of two values.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match/case (Python 3.10+) replaces long elif chains.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_ wildcard in match-case acts like the default else.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Ternary: use only for simple conditions, not nested logic.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1549908"/>
          </a:xfrm>
          <a:prstGeom prst="roundRect">
            <a:avLst>
              <a:gd name="adj" fmla="val 413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11932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Ternary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 = true_val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false_val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Match-Case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variable: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pattern: ...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_: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4384548"/>
            <a:ext cx="3977640" cy="2125980"/>
          </a:xfrm>
          <a:prstGeom prst="roundRect">
            <a:avLst>
              <a:gd name="adj" fmla="val 3441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503420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4485132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768596"/>
            <a:ext cx="3739896" cy="1623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match-case is rarely seen in production code. Ternary should be simple and readable at a glance.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097737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097737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097737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Ternary – Adult or Not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372057"/>
            <a:ext cx="7150608" cy="1553566"/>
          </a:xfrm>
          <a:prstGeom prst="roundRect">
            <a:avLst>
              <a:gd name="adj" fmla="val 412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372057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486357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447952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447952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447952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372057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664665"/>
            <a:ext cx="680313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"Adult"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age &gt;=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Adult"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(status)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Adult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Same as: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if age &gt;= 18: status = "Adult"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else:         status = "Not Adult"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181655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181655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181655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Match-Case – Server Command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455975"/>
            <a:ext cx="7150608" cy="2121408"/>
          </a:xfrm>
          <a:prstGeom prst="roundRect">
            <a:avLst>
              <a:gd name="adj" fmla="val 3017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455975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570275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531870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531870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531870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45597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3748583"/>
            <a:ext cx="6803136" cy="1764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command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command: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command: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"Starting server..."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"stop"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"Stopping server..."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"restart"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"Restarting..."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_: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"Unknown command"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114800"/>
            <a:ext cx="3200400" cy="3200400"/>
          </a:xfrm>
          <a:prstGeom prst="ellipse">
            <a:avLst/>
          </a:prstGeom>
          <a:solidFill>
            <a:srgbClr val="FF7A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Problems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1362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before moving on!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176272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01168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of 5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16736" y="2331720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number n. Print "multiple of 5" or "NOT a multiple of 5". Hint: use the % (modulo) operator.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346704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16736" y="31821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or Even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16736" y="3502152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a number n. Print "Even" if divisible by 2, otherwise print "Odd". Hint: n % 2 == 0 means Even.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  ·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– Set 1</a:t>
            </a:r>
            <a:endParaRPr lang="en-US" sz="2500" dirty="0"/>
          </a:p>
        </p:txBody>
      </p:sp>
      <p:pic>
        <p:nvPicPr>
          <p:cNvPr id="4" name="Image 0" descr="/home/claude/ppt/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24688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8136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of 5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5053432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number: 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%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"multiple of 5"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"NOT a multiple of 5"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23864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17" name="Text 14"/>
          <p:cNvSpPr/>
          <p:nvPr/>
        </p:nvSpPr>
        <p:spPr>
          <a:xfrm>
            <a:off x="6223864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36512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or Even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23864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23864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1" name="Shape 18"/>
          <p:cNvSpPr/>
          <p:nvPr/>
        </p:nvSpPr>
        <p:spPr>
          <a:xfrm>
            <a:off x="6223864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2" name="Shape 19"/>
          <p:cNvSpPr/>
          <p:nvPr/>
        </p:nvSpPr>
        <p:spPr>
          <a:xfrm>
            <a:off x="6342736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6472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4" name="Shape 21"/>
          <p:cNvSpPr/>
          <p:nvPr/>
        </p:nvSpPr>
        <p:spPr>
          <a:xfrm>
            <a:off x="6690208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25" name="Text 22"/>
          <p:cNvSpPr/>
          <p:nvPr/>
        </p:nvSpPr>
        <p:spPr>
          <a:xfrm>
            <a:off x="10801807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06744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 =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number: 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%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"Even"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"Odd"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7A1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FF7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6420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64208" y="37307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 ·  for  ·  break  ·  continue  ·  range()</a:t>
            </a:r>
            <a:endParaRPr lang="en-US" sz="1600" dirty="0"/>
          </a:p>
        </p:txBody>
      </p:sp>
      <p:pic>
        <p:nvPicPr>
          <p:cNvPr id="9" name="Image 0" descr="/home/claude/ppt/icons/sync_white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241280" y="2331720"/>
            <a:ext cx="1463040" cy="1463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 ·  CONCEPT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Loop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while loop repeats a code block as long as a condition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True. Always update the loop variable inside the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block, otherwise the condition never becomes False and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get an infinite loop that crashes your program.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8001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block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update variable!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3634740"/>
            <a:ext cx="3977640" cy="2875788"/>
          </a:xfrm>
          <a:prstGeom prst="roundRect">
            <a:avLst>
              <a:gd name="adj" fmla="val 2544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53612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37353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018788"/>
            <a:ext cx="3739896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write: while True: without a break inside — this creates an infinite loop that freezes your program.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570939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570939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570939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1 to 5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845259"/>
            <a:ext cx="7150608" cy="1364285"/>
          </a:xfrm>
          <a:prstGeom prst="roundRect">
            <a:avLst>
              <a:gd name="adj" fmla="val 4692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845259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959559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921154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921154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921154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845259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2137867"/>
            <a:ext cx="6803136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 2  3  4  5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465576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46557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465576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Multiplication Table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739896"/>
            <a:ext cx="7150608" cy="1364285"/>
          </a:xfrm>
          <a:prstGeom prst="roundRect">
            <a:avLst>
              <a:gd name="adj" fmla="val 4692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739896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854196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81579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81579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81579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739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4032504"/>
            <a:ext cx="6803136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n: 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"{i} x {n} = {i * n}"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 ·  CONCEPT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&amp; continue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– exits the loop immediately, skipping all remaining iterations.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– skips the rest of the current iteration and jumps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the condition check to start the next iteration.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work inside while and for loops.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8001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4434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condition: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some_cond: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exit loop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other_cond: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next iter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3634740"/>
            <a:ext cx="3977640" cy="2875788"/>
          </a:xfrm>
          <a:prstGeom prst="roundRect">
            <a:avLst>
              <a:gd name="adj" fmla="val 2544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753612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3735324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018788"/>
            <a:ext cx="3739896" cy="2372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exits only the nearest loop. For nested loops you need a flag variable or a different approach.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192378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19237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19237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at first multiple of 6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466698"/>
            <a:ext cx="7150608" cy="1742846"/>
          </a:xfrm>
          <a:prstGeom prst="roundRect">
            <a:avLst>
              <a:gd name="adj" fmla="val 367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466698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580998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542593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542593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542593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46669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759306"/>
            <a:ext cx="6803136" cy="138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%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 2  3  4  5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465576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46557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465576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– skip multiples of 3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739896"/>
            <a:ext cx="7150608" cy="1742846"/>
          </a:xfrm>
          <a:prstGeom prst="roundRect">
            <a:avLst>
              <a:gd name="adj" fmla="val 367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739896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854196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81579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81579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81579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739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4032504"/>
            <a:ext cx="6803136" cy="138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%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skip 3, 6, 9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 2  4  5  7  8  10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 ·  CONCEPT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Loop &amp; range()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 loop iterates over any sequence: string, list, range.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range(stop) | range(start,stop) | range(start,stop,step)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 keyword is also a membership operator used to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an item exists inside a string or collection.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1362456"/>
          </a:xfrm>
          <a:prstGeom prst="roundRect">
            <a:avLst>
              <a:gd name="adj" fmla="val 4698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variable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sequence: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block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0,1,2,3,4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1,2,3,4,5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1,3,5,7,9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4197096"/>
            <a:ext cx="3977640" cy="2313432"/>
          </a:xfrm>
          <a:prstGeom prst="roundRect">
            <a:avLst>
              <a:gd name="adj" fmla="val 3162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315968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4297680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581144"/>
            <a:ext cx="3739896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range() does NOT include the stop value. range(1,6) gives 1,2,3,4,5 — not 6. For loops can be nested.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192378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19237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19237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 over a string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466698"/>
            <a:ext cx="7150608" cy="1553566"/>
          </a:xfrm>
          <a:prstGeom prst="roundRect">
            <a:avLst>
              <a:gd name="adj" fmla="val 412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466698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580998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542593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542593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542593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46669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759306"/>
            <a:ext cx="680313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"Prime"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Check membership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"letter exists"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276295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276295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276295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vowels in a word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550615"/>
            <a:ext cx="7150608" cy="1932127"/>
          </a:xfrm>
          <a:prstGeom prst="roundRect">
            <a:avLst>
              <a:gd name="adj" fmla="val 331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550615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664915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626510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626510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626510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550615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3843223"/>
            <a:ext cx="6803136" cy="15755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"artificial intelligence"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"aeiou"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vowels: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 occurs {count} times"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114800"/>
            <a:ext cx="3200400" cy="3200400"/>
          </a:xfrm>
          <a:prstGeom prst="ellipse">
            <a:avLst/>
          </a:prstGeom>
          <a:solidFill>
            <a:srgbClr val="FF7A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Problems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1362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before moving on!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176272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01168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odd numbers using continue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16736" y="2331720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a while loop, print odd numbers from 1 to 10 by using the continue statement to skip even numbers.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346704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16736" y="31821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vowels + Sum of first N numbers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16736" y="3502152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Input a word and count its vowels using a for loop.  (b) Input n and print the sum of 1 to n using range().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 ·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– Set 2  (Odds &amp; Vowels)</a:t>
            </a:r>
            <a:endParaRPr lang="en-US" sz="2500" dirty="0"/>
          </a:p>
        </p:txBody>
      </p:sp>
      <p:pic>
        <p:nvPicPr>
          <p:cNvPr id="4" name="Image 0" descr="/home/claude/ppt/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24688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8136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Odd numbers with continue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5053432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+=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%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1  3  5  7  9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23864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17" name="Text 14"/>
          <p:cNvSpPr/>
          <p:nvPr/>
        </p:nvSpPr>
        <p:spPr>
          <a:xfrm>
            <a:off x="6223864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36512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vowels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23864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23864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1" name="Shape 18"/>
          <p:cNvSpPr/>
          <p:nvPr/>
        </p:nvSpPr>
        <p:spPr>
          <a:xfrm>
            <a:off x="6223864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2" name="Shape 19"/>
          <p:cNvSpPr/>
          <p:nvPr/>
        </p:nvSpPr>
        <p:spPr>
          <a:xfrm>
            <a:off x="6342736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6472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4" name="Shape 21"/>
          <p:cNvSpPr/>
          <p:nvPr/>
        </p:nvSpPr>
        <p:spPr>
          <a:xfrm>
            <a:off x="6690208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25" name="Text 22"/>
          <p:cNvSpPr/>
          <p:nvPr/>
        </p:nvSpPr>
        <p:spPr>
          <a:xfrm>
            <a:off x="10801807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06744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 =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word: 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vowels = 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"aeiou"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word: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vowels: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(f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"vowel count = {count}"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  ·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– Set 2  (Sum of N)</a:t>
            </a:r>
            <a:endParaRPr lang="en-US" sz="2500" dirty="0"/>
          </a:p>
        </p:txBody>
      </p:sp>
      <p:pic>
        <p:nvPicPr>
          <p:cNvPr id="4" name="Image 0" descr="/home/claude/ppt/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24688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8136" y="1143000"/>
            <a:ext cx="106006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first N natural numbers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408176"/>
            <a:ext cx="11240719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1408176"/>
            <a:ext cx="11240719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1522476"/>
            <a:ext cx="11240719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10801807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1700784"/>
            <a:ext cx="10893247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"enter n: 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 +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"sum ="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total)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17" name="Text 1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FF7A1A">
              <a:alpha val="13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572000"/>
            <a:ext cx="3200400" cy="32004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2377440"/>
            <a:ext cx="1005840" cy="1005840"/>
          </a:xfrm>
          <a:prstGeom prst="roundRect">
            <a:avLst>
              <a:gd name="adj" fmla="val 10909"/>
            </a:avLst>
          </a:prstGeom>
          <a:solidFill>
            <a:srgbClr val="FF7A1A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664208" y="2423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spc="1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664208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664208" y="373075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 ·  return  ·  default params  ·  built-ins  ·  lambda</a:t>
            </a:r>
            <a:endParaRPr lang="en-US" sz="1600" dirty="0"/>
          </a:p>
        </p:txBody>
      </p:sp>
      <p:pic>
        <p:nvPicPr>
          <p:cNvPr id="9" name="Image 0" descr="/home/claude/ppt/icons/cogs_white.pn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10241280" y="2331720"/>
            <a:ext cx="1463040" cy="1463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 ·  CONCEPT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Defining &amp; Calling Functions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is a reusable block of code for a specific task.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defines it; writing its name with () calls (runs) it.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 are placeholder names; arguments are real values.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sends a result back to the caller (optional).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1175004"/>
          </a:xfrm>
          <a:prstGeom prst="roundRect">
            <a:avLst>
              <a:gd name="adj" fmla="val 5447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function_name(params):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code block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optional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function_name(arguments)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4009644"/>
            <a:ext cx="3977640" cy="2500884"/>
          </a:xfrm>
          <a:prstGeom prst="roundRect">
            <a:avLst>
              <a:gd name="adj" fmla="val 2925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2851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41102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393692"/>
            <a:ext cx="3739896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function definition only stores the code. Nothing runs until you call the function with parentheses.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192378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192378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192378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Greet function (no params)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466698"/>
            <a:ext cx="7150608" cy="1742846"/>
          </a:xfrm>
          <a:prstGeom prst="roundRect">
            <a:avLst>
              <a:gd name="adj" fmla="val 367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466698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580998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542593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542593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542593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46669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1759306"/>
            <a:ext cx="6803136" cy="138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Define the function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"hello from Prime"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Call the function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hello from Prime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465576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46557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465576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&amp; Average with return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739896"/>
            <a:ext cx="7150608" cy="1742846"/>
          </a:xfrm>
          <a:prstGeom prst="roundRect">
            <a:avLst>
              <a:gd name="adj" fmla="val 3673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739896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854196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81579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81579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81579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73989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4032504"/>
            <a:ext cx="6803136" cy="13862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b):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b, c):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(a + b + c) /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15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2.0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 ·  CONCEPT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Parameters &amp; Lambda</a:t>
            </a:r>
            <a:endParaRPr lang="en-US" sz="2700" dirty="0"/>
          </a:p>
        </p:txBody>
      </p:sp>
      <p:pic>
        <p:nvPicPr>
          <p:cNvPr id="4" name="Image 0" descr="/home/claude/ppt/icons/python_orange.png"/>
          <p:cNvPicPr>
            <a:picLocks noChangeAspect="1"/>
          </p:cNvPicPr>
          <p:nvPr/>
        </p:nvPicPr>
        <p:blipFill>
          <a:blip r:embed="rId3">
            <a:alphaModFix amt="75000"/>
          </a:blip>
          <a:stretch>
            <a:fillRect/>
          </a:stretch>
        </p:blipFill>
        <p:spPr>
          <a:xfrm>
            <a:off x="11539728" y="246888"/>
            <a:ext cx="292608" cy="29260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61288"/>
            <a:ext cx="397764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" y="122529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📌  Definition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3504" y="1499616"/>
            <a:ext cx="3721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parameters give a fallback value if caller skips them.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params MUST come AFTER non-default ones.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= anonymous one-liner function using lambda keyword.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functions: print() input() int() float() range()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" y="2697480"/>
            <a:ext cx="3977640" cy="1175004"/>
          </a:xfrm>
          <a:prstGeom prst="roundRect">
            <a:avLst>
              <a:gd name="adj" fmla="val 5447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2697480"/>
            <a:ext cx="3977640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2811780"/>
            <a:ext cx="3977640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2773375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2773375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2773375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3538728" y="269748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2990088"/>
            <a:ext cx="3630168" cy="818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fn(a, b=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 has default value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syntax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args: expression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03504" y="267919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0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" y="4009644"/>
            <a:ext cx="3977640" cy="2500884"/>
          </a:xfrm>
          <a:prstGeom prst="roundRect">
            <a:avLst>
              <a:gd name="adj" fmla="val 2925"/>
            </a:avLst>
          </a:prstGeom>
          <a:solidFill>
            <a:srgbClr val="FFF1E2"/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8" name="Image 1" descr="/home/claude/ppt/icons/lightbulb_oran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128516"/>
            <a:ext cx="246888" cy="2468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896112" y="4110228"/>
            <a:ext cx="3429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594360" y="4393692"/>
            <a:ext cx="3739896" cy="1997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A3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f(a=1, b) is a SyntaxError — non-default argument after default is not allowed in Python.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54880" y="1476299"/>
            <a:ext cx="1353312" cy="246888"/>
          </a:xfrm>
          <a:prstGeom prst="roundRect">
            <a:avLst>
              <a:gd name="adj" fmla="val 22222"/>
            </a:avLst>
          </a:prstGeom>
          <a:solidFill>
            <a:srgbClr val="1FAA59"/>
          </a:solidFill>
          <a:ln/>
        </p:spPr>
      </p:sp>
      <p:sp>
        <p:nvSpPr>
          <p:cNvPr id="22" name="Text 18"/>
          <p:cNvSpPr/>
          <p:nvPr/>
        </p:nvSpPr>
        <p:spPr>
          <a:xfrm>
            <a:off x="4754880" y="1476299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Simple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172200" y="1476299"/>
            <a:ext cx="57058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parameter value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1750619"/>
            <a:ext cx="7150608" cy="1364285"/>
          </a:xfrm>
          <a:prstGeom prst="roundRect">
            <a:avLst>
              <a:gd name="adj" fmla="val 4692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1750619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6" name="Shape 22"/>
          <p:cNvSpPr/>
          <p:nvPr/>
        </p:nvSpPr>
        <p:spPr>
          <a:xfrm>
            <a:off x="4754880" y="1864919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7" name="Shape 23"/>
          <p:cNvSpPr/>
          <p:nvPr/>
        </p:nvSpPr>
        <p:spPr>
          <a:xfrm>
            <a:off x="4873752" y="1826514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8" name="Shape 24"/>
          <p:cNvSpPr/>
          <p:nvPr/>
        </p:nvSpPr>
        <p:spPr>
          <a:xfrm>
            <a:off x="5047488" y="1826514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9" name="Shape 25"/>
          <p:cNvSpPr/>
          <p:nvPr/>
        </p:nvSpPr>
        <p:spPr>
          <a:xfrm>
            <a:off x="5221224" y="1826514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30" name="Text 26"/>
          <p:cNvSpPr/>
          <p:nvPr/>
        </p:nvSpPr>
        <p:spPr>
          <a:xfrm>
            <a:off x="10991088" y="1750619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31" name="Text 27"/>
          <p:cNvSpPr/>
          <p:nvPr/>
        </p:nvSpPr>
        <p:spPr>
          <a:xfrm>
            <a:off x="4937760" y="2043227"/>
            <a:ext cx="6803136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Default value for b is 1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b=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+ b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  (uses default b=1)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8  (b overridden)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754880" y="3370936"/>
            <a:ext cx="1536192" cy="246888"/>
          </a:xfrm>
          <a:prstGeom prst="roundRect">
            <a:avLst>
              <a:gd name="adj" fmla="val 22222"/>
            </a:avLst>
          </a:prstGeom>
          <a:solidFill>
            <a:srgbClr val="FF7A1A"/>
          </a:solidFill>
          <a:ln/>
        </p:spPr>
      </p:sp>
      <p:sp>
        <p:nvSpPr>
          <p:cNvPr id="33" name="Text 29"/>
          <p:cNvSpPr/>
          <p:nvPr/>
        </p:nvSpPr>
        <p:spPr>
          <a:xfrm>
            <a:off x="4754880" y="3370936"/>
            <a:ext cx="15361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🟠 Moderate</a:t>
            </a:r>
            <a:endParaRPr lang="en-US" sz="1000" dirty="0"/>
          </a:p>
        </p:txBody>
      </p:sp>
      <p:sp>
        <p:nvSpPr>
          <p:cNvPr id="34" name="Text 30"/>
          <p:cNvSpPr/>
          <p:nvPr/>
        </p:nvSpPr>
        <p:spPr>
          <a:xfrm>
            <a:off x="6355080" y="3370936"/>
            <a:ext cx="55229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– square &amp; bigger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4754880" y="3645256"/>
            <a:ext cx="7150608" cy="1553566"/>
          </a:xfrm>
          <a:prstGeom prst="roundRect">
            <a:avLst>
              <a:gd name="adj" fmla="val 4120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2"/>
          <p:cNvSpPr/>
          <p:nvPr/>
        </p:nvSpPr>
        <p:spPr>
          <a:xfrm>
            <a:off x="4754880" y="3645256"/>
            <a:ext cx="7150608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37" name="Shape 33"/>
          <p:cNvSpPr/>
          <p:nvPr/>
        </p:nvSpPr>
        <p:spPr>
          <a:xfrm>
            <a:off x="4754880" y="3759556"/>
            <a:ext cx="7150608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38" name="Shape 34"/>
          <p:cNvSpPr/>
          <p:nvPr/>
        </p:nvSpPr>
        <p:spPr>
          <a:xfrm>
            <a:off x="4873752" y="372115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39" name="Shape 35"/>
          <p:cNvSpPr/>
          <p:nvPr/>
        </p:nvSpPr>
        <p:spPr>
          <a:xfrm>
            <a:off x="5047488" y="372115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40" name="Shape 36"/>
          <p:cNvSpPr/>
          <p:nvPr/>
        </p:nvSpPr>
        <p:spPr>
          <a:xfrm>
            <a:off x="5221224" y="372115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41" name="Text 37"/>
          <p:cNvSpPr/>
          <p:nvPr/>
        </p:nvSpPr>
        <p:spPr>
          <a:xfrm>
            <a:off x="10991088" y="364525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4937760" y="3937864"/>
            <a:ext cx="6803136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Lambda: compute x squared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x: x * x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25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Lambda with 2 params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lambda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a, b: a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&gt; b </a:t>
            </a:r>
            <a:r>
              <a:rPr lang="en-US" sz="105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050" dirty="0"/>
          </a:p>
          <a:p>
            <a:pPr marL="0" indent="0">
              <a:lnSpc>
                <a:spcPts val="1350"/>
              </a:lnSpc>
              <a:buNone/>
            </a:pP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bigger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5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r>
              <a:rPr lang="en-US" sz="105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</a:t>
            </a:r>
            <a:r>
              <a:rPr lang="en-US" sz="105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12</a:t>
            </a:r>
            <a:endParaRPr lang="en-US" sz="1050" dirty="0"/>
          </a:p>
        </p:txBody>
      </p:sp>
      <p:sp>
        <p:nvSpPr>
          <p:cNvPr id="43" name="Shap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44" name="Text 4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4114800"/>
            <a:ext cx="3200400" cy="3200400"/>
          </a:xfrm>
          <a:prstGeom prst="ellipse">
            <a:avLst/>
          </a:prstGeom>
          <a:solidFill>
            <a:srgbClr val="FF7A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731520"/>
            <a:ext cx="2743200" cy="2743200"/>
          </a:xfrm>
          <a:prstGeom prst="ellipse">
            <a:avLst/>
          </a:prstGeom>
          <a:solidFill>
            <a:srgbClr val="FF7A1A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3657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Problems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1005840" cy="292608"/>
          </a:xfrm>
          <a:prstGeom prst="roundRect">
            <a:avLst>
              <a:gd name="adj" fmla="val 18750"/>
            </a:avLst>
          </a:prstGeom>
          <a:solidFill>
            <a:srgbClr val="FF7A1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258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581912" y="136245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these before moving on!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176272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1" name="Text 9"/>
          <p:cNvSpPr/>
          <p:nvPr/>
        </p:nvSpPr>
        <p:spPr>
          <a:xfrm>
            <a:off x="704088" y="217627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16736" y="2011680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of 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316736" y="2331720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factorial(n) that returns n! using a for loop. Example: factorial(6) should return 720.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090672"/>
            <a:ext cx="11185855" cy="1005840"/>
          </a:xfrm>
          <a:prstGeom prst="roundRect">
            <a:avLst>
              <a:gd name="adj" fmla="val 8182"/>
            </a:avLst>
          </a:prstGeom>
          <a:solidFill>
            <a:srgbClr val="FFFFFF">
              <a:alpha val="7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4088" y="3346704"/>
            <a:ext cx="493776" cy="493776"/>
          </a:xfrm>
          <a:prstGeom prst="ellipse">
            <a:avLst/>
          </a:prstGeom>
          <a:solidFill>
            <a:srgbClr val="FF7A1A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" y="33467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16736" y="3182112"/>
            <a:ext cx="102714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of 3 Numbers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316736" y="3502152"/>
            <a:ext cx="1027145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function get_largest(a, b, c) that returns the largest of the three using if-elif-else inside the function.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0" y="64465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Fundamentals Part 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24688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40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  · 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75488" y="475488"/>
            <a:ext cx="11430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5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– Set 3</a:t>
            </a:r>
            <a:endParaRPr lang="en-US" sz="2500" dirty="0"/>
          </a:p>
        </p:txBody>
      </p:sp>
      <p:pic>
        <p:nvPicPr>
          <p:cNvPr id="4" name="Image 0" descr="/home/claude/ppt/icons/check_or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9728" y="246888"/>
            <a:ext cx="329184" cy="32918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75488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6" name="Text 3"/>
          <p:cNvSpPr/>
          <p:nvPr/>
        </p:nvSpPr>
        <p:spPr>
          <a:xfrm>
            <a:off x="475488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88136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Factorial of 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12" name="Shape 9"/>
          <p:cNvSpPr/>
          <p:nvPr/>
        </p:nvSpPr>
        <p:spPr>
          <a:xfrm>
            <a:off x="768096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13" name="Shape 10"/>
          <p:cNvSpPr/>
          <p:nvPr/>
        </p:nvSpPr>
        <p:spPr>
          <a:xfrm>
            <a:off x="941832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14" name="Text 11"/>
          <p:cNvSpPr/>
          <p:nvPr/>
        </p:nvSpPr>
        <p:spPr>
          <a:xfrm>
            <a:off x="5053432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fact =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n +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fact *= i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fact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A4E0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"factorial ="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factorial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output: factorial = 720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23864" y="1133856"/>
            <a:ext cx="548640" cy="256032"/>
          </a:xfrm>
          <a:prstGeom prst="roundRect">
            <a:avLst>
              <a:gd name="adj" fmla="val 21429"/>
            </a:avLst>
          </a:prstGeom>
          <a:solidFill>
            <a:srgbClr val="FF7A1A"/>
          </a:solidFill>
          <a:ln/>
        </p:spPr>
      </p:sp>
      <p:sp>
        <p:nvSpPr>
          <p:cNvPr id="17" name="Text 14"/>
          <p:cNvSpPr/>
          <p:nvPr/>
        </p:nvSpPr>
        <p:spPr>
          <a:xfrm>
            <a:off x="6223864" y="1133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36512" y="1143000"/>
            <a:ext cx="485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of 3 Numbers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223864" y="1408176"/>
            <a:ext cx="5492344" cy="5102352"/>
          </a:xfrm>
          <a:prstGeom prst="roundRect">
            <a:avLst>
              <a:gd name="adj" fmla="val 1254"/>
            </a:avLst>
          </a:prstGeom>
          <a:solidFill>
            <a:srgbClr val="0D1B2A"/>
          </a:solidFill>
          <a:ln/>
          <a:effectLst>
            <a:outerShdw blurRad="101600" dist="508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223864" y="1408176"/>
            <a:ext cx="5492344" cy="228600"/>
          </a:xfrm>
          <a:prstGeom prst="roundRect">
            <a:avLst>
              <a:gd name="adj" fmla="val 28000"/>
            </a:avLst>
          </a:prstGeom>
          <a:solidFill>
            <a:srgbClr val="17304D"/>
          </a:solidFill>
          <a:ln/>
        </p:spPr>
      </p:sp>
      <p:sp>
        <p:nvSpPr>
          <p:cNvPr id="21" name="Shape 18"/>
          <p:cNvSpPr/>
          <p:nvPr/>
        </p:nvSpPr>
        <p:spPr>
          <a:xfrm>
            <a:off x="6223864" y="1522476"/>
            <a:ext cx="5492344" cy="114300"/>
          </a:xfrm>
          <a:prstGeom prst="rect">
            <a:avLst/>
          </a:prstGeom>
          <a:solidFill>
            <a:srgbClr val="17304D"/>
          </a:solidFill>
          <a:ln/>
        </p:spPr>
      </p:sp>
      <p:sp>
        <p:nvSpPr>
          <p:cNvPr id="22" name="Shape 19"/>
          <p:cNvSpPr/>
          <p:nvPr/>
        </p:nvSpPr>
        <p:spPr>
          <a:xfrm>
            <a:off x="6342736" y="1484071"/>
            <a:ext cx="74981" cy="74981"/>
          </a:xfrm>
          <a:prstGeom prst="ellipse">
            <a:avLst/>
          </a:prstGeom>
          <a:solidFill>
            <a:srgbClr val="FF6159"/>
          </a:solidFill>
          <a:ln/>
        </p:spPr>
      </p:sp>
      <p:sp>
        <p:nvSpPr>
          <p:cNvPr id="23" name="Shape 20"/>
          <p:cNvSpPr/>
          <p:nvPr/>
        </p:nvSpPr>
        <p:spPr>
          <a:xfrm>
            <a:off x="6516472" y="1484071"/>
            <a:ext cx="74981" cy="74981"/>
          </a:xfrm>
          <a:prstGeom prst="ellipse">
            <a:avLst/>
          </a:prstGeom>
          <a:solidFill>
            <a:srgbClr val="FFC02E"/>
          </a:solidFill>
          <a:ln/>
        </p:spPr>
      </p:sp>
      <p:sp>
        <p:nvSpPr>
          <p:cNvPr id="24" name="Shape 21"/>
          <p:cNvSpPr/>
          <p:nvPr/>
        </p:nvSpPr>
        <p:spPr>
          <a:xfrm>
            <a:off x="6690208" y="1484071"/>
            <a:ext cx="74981" cy="74981"/>
          </a:xfrm>
          <a:prstGeom prst="ellipse">
            <a:avLst/>
          </a:prstGeom>
          <a:solidFill>
            <a:srgbClr val="28C940"/>
          </a:solidFill>
          <a:ln/>
        </p:spPr>
      </p:sp>
      <p:sp>
        <p:nvSpPr>
          <p:cNvPr id="25" name="Text 22"/>
          <p:cNvSpPr/>
          <p:nvPr/>
        </p:nvSpPr>
        <p:spPr>
          <a:xfrm>
            <a:off x="10801807" y="1408176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060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6406744" y="1700784"/>
            <a:ext cx="5144872" cy="4745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get_largest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(a, b, c):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&gt; b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&gt; c: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elif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&gt; c: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000" b="1" dirty="0">
                <a:solidFill>
                  <a:srgbClr val="FF9D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5FE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get_largest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en-US" sz="1000" dirty="0">
                <a:solidFill>
                  <a:srgbClr val="CDA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en-US" sz="1000" dirty="0">
                <a:solidFill>
                  <a:srgbClr val="E7EC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))  </a:t>
            </a:r>
            <a:r>
              <a:rPr lang="en-US" sz="1000" i="1" dirty="0">
                <a:solidFill>
                  <a:srgbClr val="7C8A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10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0B2447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·  Python Fundamentals Part 2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8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731520"/>
            <a:ext cx="3657600" cy="3657600"/>
          </a:xfrm>
          <a:prstGeom prst="ellipse">
            <a:avLst/>
          </a:prstGeom>
          <a:solidFill>
            <a:srgbClr val="FF7A1A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4114800"/>
            <a:ext cx="3657600" cy="3657600"/>
          </a:xfrm>
          <a:prstGeom prst="ellipse">
            <a:avLst/>
          </a:prstGeom>
          <a:solidFill>
            <a:srgbClr val="FF7A1A">
              <a:alpha val="14000"/>
            </a:srgbClr>
          </a:solidFill>
          <a:ln/>
        </p:spPr>
      </p:sp>
      <p:pic>
        <p:nvPicPr>
          <p:cNvPr id="4" name="Image 0" descr="/home/claude/ppt/icons/python_white.png"/>
          <p:cNvPicPr>
            <a:picLocks noChangeAspect="1"/>
          </p:cNvPicPr>
          <p:nvPr/>
        </p:nvPicPr>
        <p:blipFill>
          <a:blip r:embed="rId3">
            <a:alphaModFix amt="85000"/>
          </a:blip>
          <a:stretch>
            <a:fillRect/>
          </a:stretch>
        </p:blipFill>
        <p:spPr>
          <a:xfrm>
            <a:off x="5349240" y="4572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084832"/>
            <a:ext cx="12191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Covered!</a:t>
            </a:r>
            <a:endParaRPr lang="en-US" sz="3600" dirty="0"/>
          </a:p>
        </p:txBody>
      </p:sp>
      <p:sp>
        <p:nvSpPr>
          <p:cNvPr id="6" name="Shape 3"/>
          <p:cNvSpPr/>
          <p:nvPr/>
        </p:nvSpPr>
        <p:spPr>
          <a:xfrm>
            <a:off x="1005840" y="285292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7" name="Image 1" descr="/home/claude/ppt/icons/branc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3054096"/>
            <a:ext cx="685800" cy="685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5840" y="38404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Statements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097280" y="4187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/ elif / else · ternary · match-case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709160" y="285292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1" name="Image 2" descr="/home/claude/ppt/icons/sync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0" y="3054096"/>
            <a:ext cx="685800" cy="6858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709160" y="38404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Loops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4800600" y="4187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 · for · break · continue · range()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8412480" y="2852928"/>
            <a:ext cx="3429000" cy="1691640"/>
          </a:xfrm>
          <a:prstGeom prst="roundRect">
            <a:avLst>
              <a:gd name="adj" fmla="val 5405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7A1A"/>
            </a:solidFill>
            <a:prstDash val="solid"/>
          </a:ln>
        </p:spPr>
      </p:sp>
      <p:pic>
        <p:nvPicPr>
          <p:cNvPr id="15" name="Image 3" descr="/home/claude/ppt/icons/cog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4080" y="3054096"/>
            <a:ext cx="685800" cy="6858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412480" y="384048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8503920" y="418795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8AAE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 · return · default params · lambda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0" y="6172200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7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Learning &amp; Keep Exploring!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0" y="6528816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dirty="0">
                <a:solidFill>
                  <a:srgbClr val="7A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Abbas College </a:t>
            </a:r>
            <a:r>
              <a:rPr lang="en-US" sz="1100" dirty="0" smtClean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 </a:t>
            </a:r>
            <a:r>
              <a:rPr lang="en-US" sz="1100" dirty="0">
                <a:solidFill>
                  <a:srgbClr val="3A5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apnacollege.in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4572</TotalTime>
  <Words>2331</Words>
  <Application>Microsoft Office PowerPoint</Application>
  <PresentationFormat>Widescreen</PresentationFormat>
  <Paragraphs>477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Fundamentals Part 2</dc:title>
  <dc:subject>PptxGenJS Presentation</dc:subject>
  <dc:creator>Apna College</dc:creator>
  <cp:lastModifiedBy>Lenovo</cp:lastModifiedBy>
  <cp:revision>9</cp:revision>
  <dcterms:created xsi:type="dcterms:W3CDTF">2026-06-19T05:29:27Z</dcterms:created>
  <dcterms:modified xsi:type="dcterms:W3CDTF">2026-07-03T07:46:15Z</dcterms:modified>
</cp:coreProperties>
</file>