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5" r:id="rId11"/>
    <p:sldId id="266" r:id="rId12"/>
    <p:sldId id="264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5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322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62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5C2D91">
              <a:alpha val="40000"/>
            </a:srgbClr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194560" cy="384048"/>
          </a:xfrm>
          <a:prstGeom prst="roundRect">
            <a:avLst>
              <a:gd name="adj" fmla="val 2381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</a:rPr>
              <a:t>ABBAS </a:t>
            </a:r>
            <a:r>
              <a:rPr lang="en-US" sz="1100" b="1" dirty="0">
                <a:solidFill>
                  <a:srgbClr val="FFFFFF"/>
                </a:solidFill>
              </a:rPr>
              <a:t>COLLEGE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🐍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Input  •  Variables  •  Data Types  •  Operators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B5FD"/>
                </a:solidFill>
              </a:rPr>
              <a:t>Learn to Code • Grow Together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print()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960120"/>
          </a:xfrm>
          <a:prstGeom prst="roundRect">
            <a:avLst>
              <a:gd name="adj" fmla="val 11429"/>
            </a:avLst>
          </a:prstGeom>
          <a:solidFill>
            <a:srgbClr val="F5F3FF"/>
          </a:solidFill>
          <a:ln w="19050">
            <a:solidFill>
              <a:srgbClr val="DDD6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</a:t>
            </a: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built-in function that displays output on the screen (console). It can show text, numbers, results of calculations, or formatted output.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8412480" cy="2468880"/>
          </a:xfrm>
          <a:prstGeom prst="roundRect">
            <a:avLst>
              <a:gd name="adj" fmla="val 5556"/>
            </a:avLst>
          </a:prstGeom>
          <a:solidFill>
            <a:srgbClr val="1E1E2E"/>
          </a:solidFill>
          <a:ln w="12700">
            <a:solidFill>
              <a:srgbClr val="44475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33172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317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world"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</a:t>
            </a:r>
            <a:r>
              <a:rPr lang="en-US" sz="1300" i="1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hello world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32841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BD93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</a:t>
            </a:r>
            <a:r>
              <a:rPr lang="en-US" sz="1300" i="1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3.14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6210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BD93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+ 3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</a:t>
            </a:r>
            <a:r>
              <a:rPr lang="en-US" sz="1300" i="1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9136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world"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"from PRIME"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Character 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characters, numbers &amp; symbols that Python recognizes: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1450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F3F0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7373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</a:t>
            </a: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Letters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'a' to 'z'  and  'A' to 'Z'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69164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F3F0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7373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</a:t>
            </a: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9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600863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F3F0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6060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Symbols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-  *  /  %  and more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256032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F3F0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26060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 </a:t>
            </a: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&amp; Escape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( )  tab (\t)  newline (\n)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842478" y="356616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F3F0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70945" y="3359932"/>
            <a:ext cx="384048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</a:t>
            </a: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&amp; Unicode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characters as data &amp; literals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F5F3FF"/>
          </a:solidFill>
          <a:ln w="19050">
            <a:solidFill>
              <a:srgbClr val="DDD6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430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like a labeled container that stores data or values. It has a name (identifier) and can hold any type of data — numbers, text, etc.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114800" cy="2331720"/>
          </a:xfrm>
          <a:prstGeom prst="roundRect">
            <a:avLst>
              <a:gd name="adj" fmla="val 5882"/>
            </a:avLst>
          </a:prstGeom>
          <a:solidFill>
            <a:srgbClr val="1E1E2E"/>
          </a:solidFill>
          <a:ln w="12700">
            <a:solidFill>
              <a:srgbClr val="44475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07568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75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Examples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487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"Shradha"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761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>
                <a:solidFill>
                  <a:srgbClr val="BD93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3035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>
                <a:solidFill>
                  <a:srgbClr val="BD93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"artificial intelligence"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3584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"value of PI ="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PI)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2011680"/>
            <a:ext cx="4114800" cy="2331720"/>
          </a:xfrm>
          <a:prstGeom prst="roundRect">
            <a:avLst>
              <a:gd name="adj" fmla="val 4706"/>
            </a:avLst>
          </a:prstGeom>
          <a:solidFill>
            <a:srgbClr val="F3F0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0756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Rules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246888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start with a letter (a-z, A-Z) or underscore _
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contain letters, digits, underscores
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</a:t>
            </a: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use Python keywords (if, for, class...)
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</a:t>
            </a: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start with a digit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43484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Python is dynamically typed  •  Case-sensitive (age ≠ Age)  •  Indentation = 4 spaces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4114800" cy="82296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252728"/>
            <a:ext cx="640080" cy="274320"/>
          </a:xfrm>
          <a:prstGeom prst="roundRect">
            <a:avLst>
              <a:gd name="adj" fmla="val 2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527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88720" y="12161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(whole numbers)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819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14800" cy="82296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18888" y="1252728"/>
            <a:ext cx="640080" cy="274320"/>
          </a:xfrm>
          <a:prstGeom prst="roundRect">
            <a:avLst>
              <a:gd name="adj" fmla="val 2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527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32120" y="12161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(decimal numbers)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5819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= 3.14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103120"/>
            <a:ext cx="4114800" cy="82296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212848"/>
            <a:ext cx="640080" cy="274320"/>
          </a:xfrm>
          <a:prstGeom prst="roundRect">
            <a:avLst>
              <a:gd name="adj" fmla="val 2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2128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2176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(sequence of characters)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25420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"hello"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2103120"/>
            <a:ext cx="4114800" cy="822960"/>
          </a:xfrm>
          <a:prstGeom prst="roundRect">
            <a:avLst>
              <a:gd name="adj" fmla="val 13333"/>
            </a:avLst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18888" y="2212848"/>
            <a:ext cx="640080" cy="274320"/>
          </a:xfrm>
          <a:prstGeom prst="roundRect">
            <a:avLst>
              <a:gd name="adj" fmla="val 2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2128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32120" y="2176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(True / False)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5420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 = True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14600" y="3063240"/>
            <a:ext cx="4114800" cy="822960"/>
          </a:xfrm>
          <a:prstGeom prst="roundRect">
            <a:avLst>
              <a:gd name="adj" fmla="val 13333"/>
            </a:avLst>
          </a:prstGeom>
          <a:solidFill>
            <a:srgbClr val="FAF5FF"/>
          </a:solidFill>
          <a:ln w="19050">
            <a:solidFill>
              <a:srgbClr val="9333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624328" y="3172968"/>
            <a:ext cx="640080" cy="274320"/>
          </a:xfrm>
          <a:prstGeom prst="roundRect">
            <a:avLst>
              <a:gd name="adj" fmla="val 23333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24328" y="31729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3136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NoneType (absence of value)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51760" y="35021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None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4343400"/>
            <a:ext cx="8412480" cy="640080"/>
          </a:xfrm>
          <a:prstGeom prst="roundRect">
            <a:avLst>
              <a:gd name="adj" fmla="val 17143"/>
            </a:avLst>
          </a:prstGeom>
          <a:solidFill>
            <a:srgbClr val="1E1E2E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343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(x))  </a:t>
            </a:r>
            <a:r>
              <a:rPr lang="en-US" sz="1300" i="1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'int'&gt;  |  Check variable type using </a:t>
            </a:r>
            <a:r>
              <a:rPr lang="en-US" sz="1300" i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 &amp; Type Casting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4023360" cy="3383280"/>
          </a:xfrm>
          <a:prstGeom prst="roundRect">
            <a:avLst>
              <a:gd name="adj" fmla="val 4054"/>
            </a:avLst>
          </a:prstGeom>
          <a:solidFill>
            <a:srgbClr val="EEF2FF"/>
          </a:solidFill>
          <a:ln w="19050">
            <a:solidFill>
              <a:srgbClr val="A5B4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07008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070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1. Implicit (Automatic)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automatically converts types when needed (e.g. int + float → float)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76272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E1E2E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677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>
                <a:solidFill>
                  <a:srgbClr val="BD93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25968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>
                <a:solidFill>
                  <a:srgbClr val="BD93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+ b)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32552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8.0 (float)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4023360" cy="3383280"/>
          </a:xfrm>
          <a:prstGeom prst="roundRect">
            <a:avLst>
              <a:gd name="adj" fmla="val 4054"/>
            </a:avLst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207008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2070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 Explicit (Type Casting)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6276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 manually converts type using built-in functions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2176272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E1E2E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2677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>
                <a:solidFill>
                  <a:srgbClr val="BD93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150" i="1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int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120640" y="26151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1150" i="1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  # float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120640" y="29626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r>
              <a:rPr lang="en-US" sz="1150" i="1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    # str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4617720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6177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functions: </a:t>
            </a:r>
            <a:r>
              <a:rPr lang="en-US" sz="12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int()  float()  str()  bool()  list()  tuple()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— Arithmetic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perform mathematical operations on values (operands).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F3F0FF"/>
          </a:solidFill>
          <a:ln w="19050">
            <a:solidFill>
              <a:srgbClr val="C4B5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709928"/>
            <a:ext cx="457200" cy="457200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691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+ 3 = 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60020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F3F0FF"/>
          </a:solidFill>
          <a:ln w="19050">
            <a:solidFill>
              <a:srgbClr val="C4B5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709928"/>
            <a:ext cx="457200" cy="457200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1691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37560" y="2103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5 - 3 =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60020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F3F0FF"/>
          </a:solidFill>
          <a:ln w="19050">
            <a:solidFill>
              <a:srgbClr val="C4B5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709928"/>
            <a:ext cx="457200" cy="457200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1691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72200" y="2103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* 3 = 15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69748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F3F0FF"/>
          </a:solidFill>
          <a:ln w="19050">
            <a:solidFill>
              <a:srgbClr val="C4B5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" y="2807208"/>
            <a:ext cx="457200" cy="457200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2788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32004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3 = 3.33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269748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F3F0FF"/>
          </a:solidFill>
          <a:ln w="19050">
            <a:solidFill>
              <a:srgbClr val="C4B5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10128" y="2807208"/>
            <a:ext cx="457200" cy="457200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840480" y="2788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(Remainder)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337560" y="32004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10 % 3 = 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35040" y="269748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F3F0FF"/>
          </a:solidFill>
          <a:ln w="19050">
            <a:solidFill>
              <a:srgbClr val="C4B5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44768" y="2807208"/>
            <a:ext cx="457200" cy="457200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75120" y="2788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/ Exponent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172200" y="32004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** 3 = 8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886200"/>
            <a:ext cx="8412480" cy="960120"/>
          </a:xfrm>
          <a:prstGeom prst="roundRect">
            <a:avLst>
              <a:gd name="adj" fmla="val 11429"/>
            </a:avLst>
          </a:prstGeom>
          <a:solidFill>
            <a:srgbClr val="1E1E2E"/>
          </a:solidFill>
          <a:ln w="12700">
            <a:solidFill>
              <a:srgbClr val="44475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4360" y="388620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300" dirty="0">
                <a:solidFill>
                  <a:srgbClr val="BD93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b = </a:t>
            </a:r>
            <a:r>
              <a:rPr lang="en-US" sz="1300" dirty="0">
                <a:solidFill>
                  <a:srgbClr val="BD93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3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</a:t>
            </a:r>
            <a:r>
              <a:rPr lang="en-US" sz="13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+ b)</a:t>
            </a:r>
            <a:r>
              <a:rPr lang="en-US" sz="13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15  |  </a:t>
            </a:r>
            <a:r>
              <a:rPr lang="en-US" sz="13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** b)</a:t>
            </a:r>
            <a:r>
              <a:rPr lang="en-US" sz="13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9765625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— Relational &amp; Assignment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15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Operators — compare values, return True/False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651760" cy="438912"/>
          </a:xfrm>
          <a:prstGeom prst="roundRect">
            <a:avLst>
              <a:gd name="adj" fmla="val 20833"/>
            </a:avLst>
          </a:prstGeom>
          <a:solidFill>
            <a:srgbClr val="EE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  </a:t>
            </a:r>
            <a:r>
              <a:rPr lang="en-US" sz="11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 5 → True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2651760" cy="438912"/>
          </a:xfrm>
          <a:prstGeom prst="roundRect">
            <a:avLst>
              <a:gd name="adj" fmla="val 20833"/>
            </a:avLst>
          </a:prstGeom>
          <a:solidFill>
            <a:srgbClr val="EE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5087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  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  </a:t>
            </a:r>
            <a:r>
              <a:rPr lang="en-US" sz="11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!= 3 → True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2651760" cy="438912"/>
          </a:xfrm>
          <a:prstGeom prst="roundRect">
            <a:avLst>
              <a:gd name="adj" fmla="val 20833"/>
            </a:avLst>
          </a:prstGeom>
          <a:solidFill>
            <a:srgbClr val="EE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5087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  </a:t>
            </a:r>
            <a:r>
              <a:rPr lang="en-US" sz="11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&gt; 3 → True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2651760" cy="438912"/>
          </a:xfrm>
          <a:prstGeom prst="roundRect">
            <a:avLst>
              <a:gd name="adj" fmla="val 20833"/>
            </a:avLst>
          </a:prstGeom>
          <a:solidFill>
            <a:srgbClr val="EE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116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 </a:t>
            </a:r>
            <a:r>
              <a:rPr lang="en-US" sz="11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&lt; 3 → False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011680"/>
            <a:ext cx="2651760" cy="438912"/>
          </a:xfrm>
          <a:prstGeom prst="roundRect">
            <a:avLst>
              <a:gd name="adj" fmla="val 20833"/>
            </a:avLst>
          </a:prstGeom>
          <a:solidFill>
            <a:srgbClr val="EE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0116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 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or equal  </a:t>
            </a:r>
            <a:r>
              <a:rPr lang="en-US" sz="11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&gt;= 5 → True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011680"/>
            <a:ext cx="2651760" cy="438912"/>
          </a:xfrm>
          <a:prstGeom prst="roundRect">
            <a:avLst>
              <a:gd name="adj" fmla="val 20833"/>
            </a:avLst>
          </a:prstGeom>
          <a:solidFill>
            <a:srgbClr val="EE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0116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  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or equal  </a:t>
            </a:r>
            <a:r>
              <a:rPr lang="en-US" sz="11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&lt;= 5 → True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5877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Operators — assign &amp; update variable values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2011680" cy="420624"/>
          </a:xfrm>
          <a:prstGeom prst="roundRect">
            <a:avLst>
              <a:gd name="adj" fmla="val 2173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7180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</a:t>
            </a:r>
            <a:r>
              <a:rPr lang="en-US" sz="10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42032" y="2971800"/>
            <a:ext cx="2011680" cy="420624"/>
          </a:xfrm>
          <a:prstGeom prst="roundRect">
            <a:avLst>
              <a:gd name="adj" fmla="val 2173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33472" y="297180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  </a:t>
            </a:r>
            <a:r>
              <a:rPr lang="en-US" sz="10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+= 5  →  x = 15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18304" y="2971800"/>
            <a:ext cx="2011680" cy="420624"/>
          </a:xfrm>
          <a:prstGeom prst="roundRect">
            <a:avLst>
              <a:gd name="adj" fmla="val 2173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297180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-=  </a:t>
            </a:r>
            <a:r>
              <a:rPr lang="en-US" sz="10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-= 3  →  x = 12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94576" y="2971800"/>
            <a:ext cx="2011680" cy="420624"/>
          </a:xfrm>
          <a:prstGeom prst="roundRect">
            <a:avLst>
              <a:gd name="adj" fmla="val 2173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86016" y="297180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*=  </a:t>
            </a:r>
            <a:r>
              <a:rPr lang="en-US" sz="10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*= 2  →  x = 24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474720"/>
            <a:ext cx="2011680" cy="420624"/>
          </a:xfrm>
          <a:prstGeom prst="roundRect">
            <a:avLst>
              <a:gd name="adj" fmla="val 2173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47472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/=  </a:t>
            </a:r>
            <a:r>
              <a:rPr lang="en-US" sz="10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/= 4  →  x = 6.0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42032" y="3474720"/>
            <a:ext cx="2011680" cy="420624"/>
          </a:xfrm>
          <a:prstGeom prst="roundRect">
            <a:avLst>
              <a:gd name="adj" fmla="val 2173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347472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%=  </a:t>
            </a:r>
            <a:r>
              <a:rPr lang="en-US" sz="10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%= 4  →  x = 2.0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18304" y="3474720"/>
            <a:ext cx="2011680" cy="420624"/>
          </a:xfrm>
          <a:prstGeom prst="roundRect">
            <a:avLst>
              <a:gd name="adj" fmla="val 2173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347472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**=  </a:t>
            </a:r>
            <a:r>
              <a:rPr lang="en-US" sz="10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**= 3  →  x = 8.0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— Logical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combine or invert boolean expressions.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627632"/>
            <a:ext cx="777240" cy="347472"/>
          </a:xfrm>
          <a:prstGeom prst="roundRect">
            <a:avLst>
              <a:gd name="adj" fmla="val 2631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6276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 BOTH conditions are True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6334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and T → 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9077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and F → F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1821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and T → F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and F → F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0" y="155448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0128" y="1627632"/>
            <a:ext cx="777240" cy="347472"/>
          </a:xfrm>
          <a:prstGeom prst="roundRect">
            <a:avLst>
              <a:gd name="adj" fmla="val 2631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6276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20299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 AT LEAST ONE condition is True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83280" y="26334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or T → 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83280" y="29077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or F → 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83280" y="31821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or T → 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83280" y="34564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or F → F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35040" y="155448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44768" y="1627632"/>
            <a:ext cx="777240" cy="347472"/>
          </a:xfrm>
          <a:prstGeom prst="roundRect">
            <a:avLst>
              <a:gd name="adj" fmla="val 2631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16276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72200" y="20299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Inverts the boolean value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17920" y="26334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True → False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17920" y="29077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False → True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3931920"/>
            <a:ext cx="8412480" cy="1005840"/>
          </a:xfrm>
          <a:prstGeom prst="roundRect">
            <a:avLst>
              <a:gd name="adj" fmla="val 10909"/>
            </a:avLst>
          </a:prstGeom>
          <a:solidFill>
            <a:srgbClr val="1E1E2E"/>
          </a:solidFill>
          <a:ln w="12700">
            <a:solidFill>
              <a:srgbClr val="44475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4023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x=10; y=20; </a:t>
            </a:r>
            <a:r>
              <a:rPr lang="en-US" sz="1200" dirty="0" smtClean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z=5   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" y="4370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(x&gt;z </a:t>
            </a:r>
            <a:r>
              <a:rPr lang="en-US" sz="12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y&gt;x)   </a:t>
            </a:r>
            <a:r>
              <a:rPr lang="en-US" sz="1200" i="1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 |  </a:t>
            </a: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(x&gt;y </a:t>
            </a:r>
            <a:r>
              <a:rPr lang="en-US" sz="12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y&gt;z)  </a:t>
            </a:r>
            <a:r>
              <a:rPr lang="en-US" sz="1200" i="1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 |  </a:t>
            </a: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(x&gt;y))</a:t>
            </a:r>
            <a:r>
              <a:rPr lang="en-US" sz="1200" i="1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True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83891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Precedence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have priority — evaluated in this order (highest to lowest):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023360" cy="420624"/>
          </a:xfrm>
          <a:prstGeom prst="roundRect">
            <a:avLst>
              <a:gd name="adj" fmla="val 21739"/>
            </a:avLst>
          </a:prstGeom>
          <a:solidFill>
            <a:srgbClr val="F8F7FF"/>
          </a:solidFill>
          <a:ln w="12700">
            <a:solidFill>
              <a:srgbClr val="E0D9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636776"/>
            <a:ext cx="301752" cy="30175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63677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57276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Parentheses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023360" cy="420624"/>
          </a:xfrm>
          <a:prstGeom prst="roundRect">
            <a:avLst>
              <a:gd name="adj" fmla="val 21739"/>
            </a:avLst>
          </a:prstGeom>
          <a:solidFill>
            <a:srgbClr val="F8F7FF"/>
          </a:solidFill>
          <a:ln w="12700">
            <a:solidFill>
              <a:srgbClr val="E0D9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2121408"/>
            <a:ext cx="301752" cy="3017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1214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205740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Exponent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42032"/>
            <a:ext cx="4023360" cy="420624"/>
          </a:xfrm>
          <a:prstGeom prst="roundRect">
            <a:avLst>
              <a:gd name="adj" fmla="val 21739"/>
            </a:avLst>
          </a:prstGeom>
          <a:solidFill>
            <a:srgbClr val="F8F7FF"/>
          </a:solidFill>
          <a:ln w="12700">
            <a:solidFill>
              <a:srgbClr val="E0D9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2606040"/>
            <a:ext cx="301752" cy="30175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60604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254203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3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+x, -x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Unary operators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26664"/>
            <a:ext cx="4023360" cy="420624"/>
          </a:xfrm>
          <a:prstGeom prst="roundRect">
            <a:avLst>
              <a:gd name="adj" fmla="val 21739"/>
            </a:avLst>
          </a:prstGeom>
          <a:solidFill>
            <a:srgbClr val="F8F7FF"/>
          </a:solidFill>
          <a:ln w="12700">
            <a:solidFill>
              <a:srgbClr val="E0D9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3090672"/>
            <a:ext cx="301752" cy="3017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09067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026664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/ // %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Multiplication, Division, Floor, Modulus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511296"/>
            <a:ext cx="4023360" cy="420624"/>
          </a:xfrm>
          <a:prstGeom prst="roundRect">
            <a:avLst>
              <a:gd name="adj" fmla="val 21739"/>
            </a:avLst>
          </a:prstGeom>
          <a:solidFill>
            <a:srgbClr val="F8F7FF"/>
          </a:solidFill>
          <a:ln w="12700">
            <a:solidFill>
              <a:srgbClr val="E0D9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575304"/>
            <a:ext cx="301752" cy="3017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57530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3511296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-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Addition, Subtraction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995928"/>
            <a:ext cx="4023360" cy="420624"/>
          </a:xfrm>
          <a:prstGeom prst="roundRect">
            <a:avLst>
              <a:gd name="adj" fmla="val 21739"/>
            </a:avLst>
          </a:prstGeom>
          <a:solidFill>
            <a:srgbClr val="F8F7FF"/>
          </a:solidFill>
          <a:ln w="12700">
            <a:solidFill>
              <a:srgbClr val="E0D9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" y="4059936"/>
            <a:ext cx="301752" cy="301752"/>
          </a:xfrm>
          <a:prstGeom prst="ellipse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05993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" y="399592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5A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 &gt;&gt;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Bitwise shifts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1572768"/>
            <a:ext cx="4023360" cy="420624"/>
          </a:xfrm>
          <a:prstGeom prst="roundRect">
            <a:avLst>
              <a:gd name="adj" fmla="val 21739"/>
            </a:avLst>
          </a:prstGeom>
          <a:solidFill>
            <a:srgbClr val="F8F7FF"/>
          </a:solidFill>
          <a:ln w="12700">
            <a:solidFill>
              <a:srgbClr val="E0D9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1636776"/>
            <a:ext cx="301752" cy="3017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163677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2080" y="157276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^ |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Bitwise AND, XOR, OR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057400"/>
            <a:ext cx="4023360" cy="420624"/>
          </a:xfrm>
          <a:prstGeom prst="roundRect">
            <a:avLst>
              <a:gd name="adj" fmla="val 21739"/>
            </a:avLst>
          </a:prstGeom>
          <a:solidFill>
            <a:srgbClr val="F8F7FF"/>
          </a:solidFill>
          <a:ln w="12700">
            <a:solidFill>
              <a:srgbClr val="E0D9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28032" y="2121408"/>
            <a:ext cx="301752" cy="3017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21214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12080" y="205740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&lt;= &gt; &gt;= != ==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Comparison operators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2542032"/>
            <a:ext cx="4023360" cy="420624"/>
          </a:xfrm>
          <a:prstGeom prst="roundRect">
            <a:avLst>
              <a:gd name="adj" fmla="val 21739"/>
            </a:avLst>
          </a:prstGeom>
          <a:solidFill>
            <a:srgbClr val="F8F7FF"/>
          </a:solidFill>
          <a:ln w="12700">
            <a:solidFill>
              <a:srgbClr val="E0D9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28032" y="2606040"/>
            <a:ext cx="301752" cy="30175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260604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12080" y="254203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3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Logical NOT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3026664"/>
            <a:ext cx="4023360" cy="420624"/>
          </a:xfrm>
          <a:prstGeom prst="roundRect">
            <a:avLst>
              <a:gd name="adj" fmla="val 21739"/>
            </a:avLst>
          </a:prstGeom>
          <a:solidFill>
            <a:srgbClr val="F8F7FF"/>
          </a:solidFill>
          <a:ln w="12700">
            <a:solidFill>
              <a:srgbClr val="E0D9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28032" y="3090672"/>
            <a:ext cx="301752" cy="30175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309067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12080" y="3026664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1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Logical AND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3511296"/>
            <a:ext cx="4023360" cy="420624"/>
          </a:xfrm>
          <a:prstGeom prst="roundRect">
            <a:avLst>
              <a:gd name="adj" fmla="val 21739"/>
            </a:avLst>
          </a:prstGeom>
          <a:solidFill>
            <a:srgbClr val="F8F7FF"/>
          </a:solidFill>
          <a:ln w="12700">
            <a:solidFill>
              <a:srgbClr val="E0D9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28032" y="3575304"/>
            <a:ext cx="301752" cy="30175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28032" y="357530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12080" y="3511296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Logical OR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54880" y="3995928"/>
            <a:ext cx="4023360" cy="420624"/>
          </a:xfrm>
          <a:prstGeom prst="roundRect">
            <a:avLst>
              <a:gd name="adj" fmla="val 21739"/>
            </a:avLst>
          </a:prstGeom>
          <a:solidFill>
            <a:srgbClr val="F8F7FF"/>
          </a:solidFill>
          <a:ln w="12700">
            <a:solidFill>
              <a:srgbClr val="E0D9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28032" y="4059936"/>
            <a:ext cx="301752" cy="301752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8032" y="405993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212080" y="399592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+= -= ...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Assignment operators (lowest)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input()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F5F3FF"/>
          </a:solidFill>
          <a:ln w="19050">
            <a:solidFill>
              <a:srgbClr val="DDD6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430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input()</a:t>
            </a: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reads user input from the keyboard during program execution. Whatever the user types is returned as a </a:t>
            </a: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default. Use type casting to convert.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023360" cy="1691640"/>
          </a:xfrm>
          <a:prstGeom prst="roundRect">
            <a:avLst>
              <a:gd name="adj" fmla="val 8108"/>
            </a:avLst>
          </a:prstGeom>
          <a:solidFill>
            <a:srgbClr val="1E1E2E"/>
          </a:solidFill>
          <a:ln w="12700">
            <a:solidFill>
              <a:srgbClr val="44475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075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441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("enter name: ")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15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90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(name))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264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&lt;class "str"&gt;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011680"/>
            <a:ext cx="4023360" cy="1691640"/>
          </a:xfrm>
          <a:prstGeom prst="roundRect">
            <a:avLst>
              <a:gd name="adj" fmla="val 8108"/>
            </a:avLst>
          </a:prstGeom>
          <a:solidFill>
            <a:srgbClr val="1E1E2E"/>
          </a:solidFill>
          <a:ln w="12700">
            <a:solidFill>
              <a:srgbClr val="44475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075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Type Casting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2441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("1st num: "))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715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("2nd num: "))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990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+ b)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264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Inputs are now integers!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8412480" cy="1161288"/>
          </a:xfrm>
          <a:prstGeom prst="roundRect">
            <a:avLst>
              <a:gd name="adj" fmla="val 11811"/>
            </a:avLst>
          </a:prstGeom>
          <a:solidFill>
            <a:srgbClr val="FFF7ED"/>
          </a:solidFill>
          <a:ln w="25400">
            <a:solidFill>
              <a:srgbClr val="FED7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858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Practice Problem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4160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 that takes 2 numbers (a, b) and prints the average.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4360" y="446227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= (a + b) / 2  →  </a:t>
            </a:r>
            <a:r>
              <a:rPr lang="en-US" sz="12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print("average = ", avg)</a:t>
            </a:r>
            <a:r>
              <a:rPr lang="en-US" sz="125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7.5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— </a:t>
            </a:r>
            <a:r>
              <a:rPr lang="en-US" sz="3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 Input 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combine or invert boolean expressions.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28600" y="1665106"/>
            <a:ext cx="8412480" cy="2733822"/>
          </a:xfrm>
          <a:prstGeom prst="roundRect">
            <a:avLst>
              <a:gd name="adj" fmla="val 10909"/>
            </a:avLst>
          </a:prstGeom>
          <a:solidFill>
            <a:srgbClr val="1E1E2E"/>
          </a:solidFill>
          <a:ln w="12700">
            <a:solidFill>
              <a:srgbClr val="44475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4023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9046" y="1665106"/>
            <a:ext cx="4192954" cy="253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= input("Username: ")</a:t>
            </a:r>
          </a:p>
          <a:p>
            <a:r>
              <a:rPr lang="en-US" sz="1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= input("Password: ")</a:t>
            </a:r>
          </a:p>
          <a:p>
            <a:endParaRPr lang="en-US" sz="1200" b="1" dirty="0">
              <a:solidFill>
                <a:schemeClr val="accent2">
                  <a:lumMod val="60000"/>
                  <a:lumOff val="40000"/>
                </a:schemeClr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username == "admin" and password == "123":</a:t>
            </a:r>
          </a:p>
          <a:p>
            <a:r>
              <a:rPr lang="en-US" sz="1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print("Login Successful")</a:t>
            </a:r>
          </a:p>
          <a:p>
            <a:r>
              <a:rPr lang="en-US" sz="1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</a:p>
          <a:p>
            <a:r>
              <a:rPr lang="en-US" sz="1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print("Invalid")</a:t>
            </a:r>
            <a:endParaRPr 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Text 28"/>
          <p:cNvSpPr/>
          <p:nvPr/>
        </p:nvSpPr>
        <p:spPr>
          <a:xfrm>
            <a:off x="5150338" y="1665106"/>
            <a:ext cx="3536462" cy="253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85</a:t>
            </a:r>
          </a:p>
          <a:p>
            <a:r>
              <a:rPr lang="en-US" sz="1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 = 40000</a:t>
            </a:r>
          </a:p>
          <a:p>
            <a:endParaRPr lang="en-US" sz="1200" b="1" dirty="0">
              <a:solidFill>
                <a:schemeClr val="accent2">
                  <a:lumMod val="60000"/>
                  <a:lumOff val="40000"/>
                </a:schemeClr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marks &gt;= 80 and income &lt; 50000:</a:t>
            </a:r>
          </a:p>
          <a:p>
            <a:r>
              <a:rPr lang="en-US" sz="1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print("Eligible")</a:t>
            </a:r>
          </a:p>
          <a:p>
            <a:r>
              <a:rPr lang="en-US" sz="1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</a:p>
          <a:p>
            <a:r>
              <a:rPr lang="en-US" sz="1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print("Not Eligible")</a:t>
            </a:r>
            <a:endParaRPr 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4689231" y="1665106"/>
            <a:ext cx="0" cy="2836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5C2D91">
              <a:alpha val="30000"/>
            </a:srgbClr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</a:rPr>
              <a:t>ABBAS COLLEGE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Summary 🐍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1554480" cy="109728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0195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function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57400" y="1828800"/>
            <a:ext cx="1554480" cy="109728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190195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57400" y="2331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2606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containers for data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49040" y="1828800"/>
            <a:ext cx="1554480" cy="109728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90195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49040" y="2331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2606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float, str, bool, None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40680" y="1828800"/>
            <a:ext cx="1554480" cy="109728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190195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40680" y="2331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40680" y="2606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int(), float(), str()...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0" y="1828800"/>
            <a:ext cx="1554480" cy="109728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190195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32320" y="2331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2606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- * / % **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063240"/>
            <a:ext cx="1554480" cy="109728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13639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5760" y="3566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Ops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3840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!= &gt; &lt; &gt;= &lt;=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057400" y="3063240"/>
            <a:ext cx="1554480" cy="109728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57400" y="313639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057400" y="3566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57400" y="3840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+= -= *= /=...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749040" y="3063240"/>
            <a:ext cx="1554480" cy="109728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0" y="313639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749040" y="3566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49040" y="3840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 or  not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40680" y="3063240"/>
            <a:ext cx="1554480" cy="109728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0680" y="313639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440680" y="3566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40680" y="3840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→ ** → * / → + - → ...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132320" y="3063240"/>
            <a:ext cx="1554480" cy="109728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313639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⌨️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132320" y="3566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32320" y="3840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→ always returns str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Learning &amp; Keep Exploring! 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1135</Words>
  <Application>Microsoft Office PowerPoint</Application>
  <PresentationFormat>On-screen Show (16:9)</PresentationFormat>
  <Paragraphs>226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Fundamentals - Part 1</dc:title>
  <dc:subject>PptxGenJS Presentation</dc:subject>
  <dc:creator>PptxGenJS</dc:creator>
  <cp:lastModifiedBy>Lenovo</cp:lastModifiedBy>
  <cp:revision>7</cp:revision>
  <dcterms:created xsi:type="dcterms:W3CDTF">2026-06-16T03:12:24Z</dcterms:created>
  <dcterms:modified xsi:type="dcterms:W3CDTF">2026-06-22T16:41:33Z</dcterms:modified>
</cp:coreProperties>
</file>